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72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Failure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study of 186 failed startups from Failory.com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502919" y="2587753"/>
            <a:ext cx="4585063" cy="45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88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Failory.com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2807208"/>
            <a:ext cx="10973" cy="20116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788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startups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90288" y="2807208"/>
            <a:ext cx="10973" cy="20116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788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Streamlit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39128" y="2807208"/>
            <a:ext cx="10973" cy="20116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788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· Linear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web scraping to interactive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807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 Collection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380744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186 failed startups from Failory.com using Python &amp; BeautifulSoup. Covered 19 category pages across 8 countries and 11 industries.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94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Cleaning &amp; EDA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249424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funding ranges → numeric midpoints, computed lifetime feature, grouped 18 raw failure causes into 6 categories, explored patterns.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181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KNN Classification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118104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failure cause (6 classes) from funding, industry, and lifetime. k=8, StandardScaler, one-hot industry encoding. Accuracy: 42.1%.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10973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867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Linear Regression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3986784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log(lifetime) from funding and industry. Used log1p transform to handle right-skewed target. R² = 0.396, MAE = 0.386 yrs.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— Failory.com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 of startup post-mortems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pipeline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4160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main failures directory to collect all article links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19 pages: 8 countries + 11 industries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startup blocks via CSS class listicle-startup-collection-item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on pipe separator, matched keywords for each field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1-second delay between requests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186 records × 10 columns to startup_failures.csv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295115"/>
              </p:ext>
            </p:extLst>
          </p:nvPr>
        </p:nvGraphicFramePr>
        <p:xfrm>
          <a:off x="4937760" y="1572768"/>
          <a:ext cx="3749040" cy="3200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 startups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fields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1994 –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(Employees)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causes (raw)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labels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causes (grouped)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Feature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steps before any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2697480" cy="3474720"/>
          </a:xfrm>
          <a:prstGeom prst="rect">
            <a:avLst/>
          </a:prstGeom>
          <a:solidFill>
            <a:srgbClr val="F4F8F7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081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→ Numeric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" y="1709928"/>
            <a:ext cx="2395728" cy="10973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783080"/>
            <a:ext cx="239572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like '$1M–$10M' → midpoint (5.5M)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Inequalities '&gt; $50M' → bound value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'$0' → 0 · 'No Data' → NaN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values imputed with column median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Funding_clean in million USD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298448"/>
            <a:ext cx="2697480" cy="3474720"/>
          </a:xfrm>
          <a:prstGeom prst="rect">
            <a:avLst/>
          </a:prstGeom>
          <a:solidFill>
            <a:srgbClr val="F4F8F7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081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Feature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709928"/>
            <a:ext cx="2395728" cy="10973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783080"/>
            <a:ext cx="239572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= Closed in − Started in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'Active' replaced with 2026 before subtract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columns cast to numeric type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log1p(Lifetime) used as regression target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right-skew in raw distribution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17336" y="1298448"/>
            <a:ext cx="2697480" cy="3474720"/>
          </a:xfrm>
          <a:prstGeom prst="rect">
            <a:avLst/>
          </a:prstGeom>
          <a:solidFill>
            <a:srgbClr val="F4F8F7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4081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Grouping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81928" y="1709928"/>
            <a:ext cx="2395728" cy="10973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783080"/>
            <a:ext cx="239572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raw labels → 6 broad groups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No Market Need, Competition, Bad Fit, Bad Marketing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Bad Model, Lack of Focus, Pivot failure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Lack of Funds, Mismanagement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Product, Other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Causes &amp; Industry Distribution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and Management make up 65% of all failures</a:t>
            </a:r>
            <a:endParaRPr lang="en-US" sz="1200" dirty="0"/>
          </a:p>
        </p:txBody>
      </p:sp>
      <p:pic>
        <p:nvPicPr>
          <p:cNvPr id="8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9971" y="1360866"/>
            <a:ext cx="4114800" cy="277679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solidFill>
            <a:srgbClr val="D4E6E1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(37%) + Management (28%) = 65% of all failures. This shows most startups fail due to strategic issues — not money. E-Commerce leads industries because it has the most startup activity, not because it has a uniquely high failure rate.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B25A55-55C4-D92E-5562-11C72B1CE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67" y="1353879"/>
            <a:ext cx="4447904" cy="27837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Startups Fail?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closures 2015–2020 · Median lifespan just 2 years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lifespan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yrs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lifespan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failure year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0372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03720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 dataset</a:t>
            </a:r>
            <a:endParaRPr lang="en-US" sz="900" dirty="0"/>
          </a:p>
        </p:txBody>
      </p:sp>
      <p:pic>
        <p:nvPicPr>
          <p:cNvPr id="1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911096"/>
            <a:ext cx="4206240" cy="2404871"/>
          </a:xfrm>
          <a:prstGeom prst="rect">
            <a:avLst/>
          </a:prstGeom>
        </p:spPr>
      </p:pic>
      <p:pic>
        <p:nvPicPr>
          <p:cNvPr id="1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6280" y="1965960"/>
            <a:ext cx="4251960" cy="2350007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65760" y="4315968"/>
            <a:ext cx="8412480" cy="548640"/>
          </a:xfrm>
          <a:prstGeom prst="rect">
            <a:avLst/>
          </a:prstGeom>
          <a:solidFill>
            <a:srgbClr val="D4E6E1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435254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startups fail within 2 years. The 2015–2020 peak lags the 2012–2015 funding boom by 3–4 years — consistent with the average startup runway. The log-transformed lifespan is approximately normal, which justified using log1p(Lifetime) as the regression target.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× Cause &amp; Funding vs Lifespan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determines the type of failure · Funding helps but doesn't guarantee survival</a:t>
            </a:r>
            <a:endParaRPr lang="en-US" sz="120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79126"/>
            <a:ext cx="4669971" cy="2955580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35731" y="1279126"/>
            <a:ext cx="3742509" cy="285853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5760" y="4251960"/>
            <a:ext cx="8412480" cy="603504"/>
          </a:xfrm>
          <a:prstGeom prst="rect">
            <a:avLst/>
          </a:prstGeom>
          <a:solidFill>
            <a:srgbClr val="D4E6E1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4288536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fails from Financial/External causes; Education fails from Market causes. The scatter shows no strong linear trend — well-funded startups still fail, and some lean startups survive long. Industry type is a better predictor of failure mode than funding level alone.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KNN CLASSIFIER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Classifier — Setup &amp; Encoding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failure cause from funding, industry, and lifetime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388856"/>
              </p:ext>
            </p:extLst>
          </p:nvPr>
        </p:nvGraphicFramePr>
        <p:xfrm>
          <a:off x="457200" y="1572768"/>
          <a:ext cx="4160520" cy="3358896"/>
        </p:xfrm>
        <a:graphic>
          <a:graphicData uri="http://schemas.openxmlformats.org/drawingml/2006/table">
            <a:tbl>
              <a:tblPr/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/ Choice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KNeighborsClassifier (sklearn)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(neighbors)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cause- 6 classes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Feature: Funding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Funding_clean — numeric midpoint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Feature: Industry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get_dummies (one-hot, drop_first=True)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Feature: Lifetime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(years, numeric)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on all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/ 20%, random_state=42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892040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encoding choices?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92040" y="1572768"/>
            <a:ext cx="3638006" cy="2228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 on Industry prevents KNN treating industries as ordered numbers (e.g., industry 3 ≠ closer to industry 2 than industry 5).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ensures funding ($M) and lifetime (years) don't dominate Euclidean distance over the binary industry columns.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 on dummies avoids perfect multicollinearity without changing the model's separability.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k=8. The k vs F1 curve (next slide) shows k=8 gives the highest CV F1 on this dataset.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KNN CLASSIFIER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Results &amp; Interpretation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k=8 · 42.1% accuracy · 2.5× better than random guessing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78608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78608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0016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0016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21424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21424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900" dirty="0"/>
          </a:p>
        </p:txBody>
      </p:sp>
      <p:pic>
        <p:nvPicPr>
          <p:cNvPr id="1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9962" y="1965960"/>
            <a:ext cx="3988886" cy="2738628"/>
          </a:xfrm>
          <a:prstGeom prst="rect">
            <a:avLst/>
          </a:prstGeom>
        </p:spPr>
      </p:pic>
      <p:pic>
        <p:nvPicPr>
          <p:cNvPr id="1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0017" y="1965960"/>
            <a:ext cx="3705932" cy="27513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KNN CLASSIFIER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What the Results Mean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confusion matrix and per-class performance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metrics (test set, n=38)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068303"/>
              </p:ext>
            </p:extLst>
          </p:nvPr>
        </p:nvGraphicFramePr>
        <p:xfrm>
          <a:off x="457200" y="1572768"/>
          <a:ext cx="5029200" cy="30175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715000" y="1298448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0" y="1572768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class performs best (recall 0.82) — largest class, enough samples for KNN to form clusters.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recall is only 0.08 despite 12 samples — many Management cases classified as Market due to feature overlap.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Other get zero predictions — only 3–4 test samples each, no reliable boundary.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42.1% vs 16.7% random — model has genuine predictive signal from funding + industry + lifetime.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matters: OneHot + StandardScaler were the most impactful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LINEAR REGRESSION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Setup &amp;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log1p(Lifetime) · R² = 0.396 · MAE = 0.386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78608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0.386 yrs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78608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(log scale)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0016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0016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(log scale)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21424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log(Lifetime)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21424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900" dirty="0"/>
          </a:p>
        </p:txBody>
      </p:sp>
      <p:pic>
        <p:nvPicPr>
          <p:cNvPr id="1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1049" y="1938528"/>
            <a:ext cx="3839298" cy="30038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382174-67D2-D6F2-D37A-710C0614A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7523" y="1938527"/>
            <a:ext cx="3664141" cy="31056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LINEAR REGRESSION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Interpretation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R² = 0.396 means and why log-transform was necessary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log-transform the target?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lifespan is strongly right-skewed — most fail in 1–3 years, a few survive 10–17 years.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assumes normally distributed residuals. Skewed target violates this.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log1p(Lifetime) makes the distribution approximately normal (confirmed by histogram in EDA).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transformation: residuals are more randomly distributed around zero, reducing heteroscedasticity.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R² = 0.396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+ industry explain 39.6% of variance in log(lifespan).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60.4% is founder quality, market timing, execution — not in the dataset.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39.6% is strong for only 2 feature types with 186 rows.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interpretation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572768"/>
          <a:ext cx="3840480" cy="2926077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lifetime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Funding_clean (positive)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funding → slightly longer survival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Transportation industry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coef — capital-intensive, slower to 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industry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coef — regulatory barriers slow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coef — fast-moving, winner-take-all 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coef — high competition, low barrier to 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coef — advertising market volatility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takeaways from the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4114800" cy="157276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538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9848" y="145389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failures are strategic, not financial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1837944"/>
            <a:ext cx="3794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(37%) + Management (28%) = 65% of all failures. Startups fail because they build the wrong thing or execute poorly — not because money runs out. Better product validation matters more than raising more capital.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82312" y="1325880"/>
            <a:ext cx="4114800" cy="157276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14538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45389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2-year danger zone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46904" y="1837944"/>
            <a:ext cx="3794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lifespan is 2 years. Half of all failed startups closed within their first 2 years. The critical window is months 12–24 post-launch — when initial runway is burning and revenue has not yet been established.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044952"/>
            <a:ext cx="4114800" cy="157276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172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69848" y="317296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determines the type of failure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" y="3557016"/>
            <a:ext cx="3794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→ Financial &amp; External causes. Education → Market causes. E-Commerce → Competition. The same industry consistently produces the same failure pattern, making industry a meaningful feature for both classification and regression.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82312" y="3044952"/>
            <a:ext cx="4114800" cy="157276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6904" y="3172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40680" y="317296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extends the runway but doesn't fix the problem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46904" y="3557016"/>
            <a:ext cx="3794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shows wide spread at every funding level. External failures (legal, acquisition) occur at higher average funding — they fail more expensively. A bad market fit funded with $10M still fails; it just takes longer.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— from raw HTML to interactive dashboard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026611"/>
              </p:ext>
            </p:extLst>
          </p:nvPr>
        </p:nvGraphicFramePr>
        <p:xfrm>
          <a:off x="457200" y="1371600"/>
          <a:ext cx="8321040" cy="2952204"/>
        </p:xfrm>
        <a:graphic>
          <a:graphicData uri="http://schemas.openxmlformats.org/drawingml/2006/table">
            <a:tbl>
              <a:tblPr/>
              <a:tblGrid>
                <a:gridCol w="416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/ Takeaway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 startups scraped from Failory.com — 19 category pages, 10 fields, 18 countries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 of failures are Market or Management — strategic failure dominates over financial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2 yrs — first 2 years are the most critical window for a startup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 accuracy with k=8 · 2.5× random baseline · Market class best (recall 0.73)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0.396 · Funding + industry explain 39.6% of log(lifespan)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A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lit app, ML result pages, and live predictor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1589</Words>
  <Application>Microsoft Office PowerPoint</Application>
  <PresentationFormat>On-screen Show (16:9)</PresentationFormat>
  <Paragraphs>261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Failure Analysis</dc:title>
  <dc:subject>PptxGenJS Presentation</dc:subject>
  <dc:creator>PptxGenJS</dc:creator>
  <cp:lastModifiedBy>Pulak kumar sarkar</cp:lastModifiedBy>
  <cp:revision>11</cp:revision>
  <dcterms:created xsi:type="dcterms:W3CDTF">2026-04-26T09:08:32Z</dcterms:created>
  <dcterms:modified xsi:type="dcterms:W3CDTF">2026-04-26T16:08:18Z</dcterms:modified>
</cp:coreProperties>
</file>